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234"/>
    <a:srgbClr val="D3C9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4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png"/><Relationship Id="rId15" Type="http://schemas.openxmlformats.org/officeDocument/2006/relationships/image" Target="../media/image44.svg"/><Relationship Id="rId10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8.sv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1986915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Online Food Delivery Data Analytics System</a:t>
            </a:r>
            <a:endParaRPr lang="en-US" sz="6150" dirty="0"/>
          </a:p>
        </p:txBody>
      </p:sp>
      <p:sp>
        <p:nvSpPr>
          <p:cNvPr id="6" name="Text 2"/>
          <p:cNvSpPr/>
          <p:nvPr/>
        </p:nvSpPr>
        <p:spPr>
          <a:xfrm>
            <a:off x="6280190" y="526172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SQL &amp; Data Analytics Capstone Project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280190" y="58970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Ananya Sindhe 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75F06F-70F8-9CD2-DB78-2EFEC4A10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031"/>
            <a:ext cx="5486400" cy="8229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81E893-EF5A-ED63-6438-502CC693A1C7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0" y="-360887"/>
            <a:ext cx="2057400" cy="89513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057" y="853916"/>
            <a:ext cx="784788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Introduction &amp; Problem Statement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48057" y="2237899"/>
            <a:ext cx="7847886" cy="806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D3C9C5"/>
                </a:solidFill>
              </a:rPr>
              <a:t>Online food delivery platforms generate massive transactional data.</a:t>
            </a:r>
            <a:br>
              <a:rPr lang="en-US" sz="1600" dirty="0">
                <a:solidFill>
                  <a:srgbClr val="D3C9C5"/>
                </a:solidFill>
              </a:rPr>
            </a:br>
            <a:r>
              <a:rPr lang="en-US" sz="1600" dirty="0">
                <a:solidFill>
                  <a:srgbClr val="D3C9C5"/>
                </a:solidFill>
              </a:rPr>
              <a:t>Analyzing this data helps improve revenue performance, customer retention, restaurant growth, and operational efficiency.</a:t>
            </a:r>
          </a:p>
        </p:txBody>
      </p:sp>
      <p:sp>
        <p:nvSpPr>
          <p:cNvPr id="7" name="Shape 3"/>
          <p:cNvSpPr/>
          <p:nvPr/>
        </p:nvSpPr>
        <p:spPr>
          <a:xfrm>
            <a:off x="648057" y="3214807"/>
            <a:ext cx="2515195" cy="2283976"/>
          </a:xfrm>
          <a:prstGeom prst="roundRect">
            <a:avLst>
              <a:gd name="adj" fmla="val 1216"/>
            </a:avLst>
          </a:prstGeom>
          <a:solidFill>
            <a:srgbClr val="5F5153"/>
          </a:solidFill>
          <a:ln/>
        </p:spPr>
      </p:sp>
      <p:sp>
        <p:nvSpPr>
          <p:cNvPr id="8" name="Shape 4"/>
          <p:cNvSpPr/>
          <p:nvPr/>
        </p:nvSpPr>
        <p:spPr>
          <a:xfrm>
            <a:off x="833199" y="3399949"/>
            <a:ext cx="555427" cy="555427"/>
          </a:xfrm>
          <a:prstGeom prst="roundRect">
            <a:avLst>
              <a:gd name="adj" fmla="val 16461363"/>
            </a:avLst>
          </a:prstGeom>
          <a:solidFill>
            <a:srgbClr val="E2C2B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957" y="3552587"/>
            <a:ext cx="249912" cy="249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3199" y="4106466"/>
            <a:ext cx="214491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High-Value Customers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3199" y="4775716"/>
            <a:ext cx="214491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Identifying and retaining top spenders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3314343" y="3214807"/>
            <a:ext cx="2515195" cy="2283976"/>
          </a:xfrm>
          <a:prstGeom prst="roundRect">
            <a:avLst>
              <a:gd name="adj" fmla="val 1216"/>
            </a:avLst>
          </a:prstGeom>
          <a:solidFill>
            <a:srgbClr val="5F5153"/>
          </a:solidFill>
          <a:ln/>
        </p:spPr>
      </p:sp>
      <p:sp>
        <p:nvSpPr>
          <p:cNvPr id="13" name="Shape 8"/>
          <p:cNvSpPr/>
          <p:nvPr/>
        </p:nvSpPr>
        <p:spPr>
          <a:xfrm>
            <a:off x="3499485" y="3399949"/>
            <a:ext cx="555427" cy="555427"/>
          </a:xfrm>
          <a:prstGeom prst="roundRect">
            <a:avLst>
              <a:gd name="adj" fmla="val 16461363"/>
            </a:avLst>
          </a:prstGeom>
          <a:solidFill>
            <a:srgbClr val="E2C2B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2242" y="3552587"/>
            <a:ext cx="249912" cy="249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99485" y="4106466"/>
            <a:ext cx="214491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 Performance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3499485" y="4775716"/>
            <a:ext cx="214491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Tracking quality and revenue drivers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980628" y="3214807"/>
            <a:ext cx="2515314" cy="2283976"/>
          </a:xfrm>
          <a:prstGeom prst="roundRect">
            <a:avLst>
              <a:gd name="adj" fmla="val 1216"/>
            </a:avLst>
          </a:prstGeom>
          <a:solidFill>
            <a:srgbClr val="5F5153"/>
          </a:solidFill>
          <a:ln/>
        </p:spPr>
      </p:sp>
      <p:sp>
        <p:nvSpPr>
          <p:cNvPr id="18" name="Shape 12"/>
          <p:cNvSpPr/>
          <p:nvPr/>
        </p:nvSpPr>
        <p:spPr>
          <a:xfrm>
            <a:off x="6165771" y="3399949"/>
            <a:ext cx="555427" cy="555427"/>
          </a:xfrm>
          <a:prstGeom prst="roundRect">
            <a:avLst>
              <a:gd name="adj" fmla="val 16461363"/>
            </a:avLst>
          </a:prstGeom>
          <a:solidFill>
            <a:srgbClr val="E2C2B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8528" y="3552587"/>
            <a:ext cx="249912" cy="249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65771" y="4106466"/>
            <a:ext cx="214503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Delivery Delays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6165771" y="4486394"/>
            <a:ext cx="2145030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Minimizing late orders and churn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48057" y="5649873"/>
            <a:ext cx="7847886" cy="1725692"/>
          </a:xfrm>
          <a:prstGeom prst="roundRect">
            <a:avLst>
              <a:gd name="adj" fmla="val 1609"/>
            </a:avLst>
          </a:prstGeom>
          <a:solidFill>
            <a:srgbClr val="5F5153"/>
          </a:solidFill>
          <a:ln/>
        </p:spPr>
      </p:sp>
      <p:sp>
        <p:nvSpPr>
          <p:cNvPr id="23" name="Shape 16"/>
          <p:cNvSpPr/>
          <p:nvPr/>
        </p:nvSpPr>
        <p:spPr>
          <a:xfrm>
            <a:off x="833199" y="5835015"/>
            <a:ext cx="555427" cy="555427"/>
          </a:xfrm>
          <a:prstGeom prst="roundRect">
            <a:avLst>
              <a:gd name="adj" fmla="val 16461363"/>
            </a:avLst>
          </a:prstGeom>
          <a:solidFill>
            <a:srgbClr val="E2C2B3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5957" y="5987653"/>
            <a:ext cx="249912" cy="249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3199" y="6541532"/>
            <a:ext cx="266604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Discount Effectiveness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33199" y="6921460"/>
            <a:ext cx="747760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Measuring ROI of promotional offers</a:t>
            </a:r>
            <a:endParaRPr lang="en-US" sz="1450" dirty="0"/>
          </a:p>
        </p:txBody>
      </p:sp>
      <p:pic>
        <p:nvPicPr>
          <p:cNvPr id="1028" name="Picture 4" descr="[100+] Food Delivery Wallpapers | Wallpapers.com">
            <a:extLst>
              <a:ext uri="{FF2B5EF4-FFF2-40B4-BE49-F238E27FC236}">
                <a16:creationId xmlns:a16="http://schemas.microsoft.com/office/drawing/2014/main" id="{E78FD1F7-4687-B69E-9ACA-5C61A890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5930"/>
            <a:ext cx="1312188" cy="426244"/>
          </a:xfrm>
          <a:prstGeom prst="roundRect">
            <a:avLst>
              <a:gd name="adj" fmla="val 6386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43915"/>
            <a:ext cx="10400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19325" y="843915"/>
            <a:ext cx="11135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1292900"/>
            <a:ext cx="56760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Business Objectives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793790" y="23418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2696885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2871192"/>
            <a:ext cx="35307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Revenue &amp; Order Trends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336161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Analyze patterns across time and geography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28548" y="23418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696885"/>
            <a:ext cx="6408063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2" name="Text 10"/>
          <p:cNvSpPr/>
          <p:nvPr/>
        </p:nvSpPr>
        <p:spPr>
          <a:xfrm>
            <a:off x="7428548" y="2871192"/>
            <a:ext cx="3475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28548" y="336161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Segment customers by spending behavior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41213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476393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4650700"/>
            <a:ext cx="3196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 Evaluation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790" y="51411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Benchmark performance and ratings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8548" y="41213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4476393"/>
            <a:ext cx="6408063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46507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Delivery Efficiency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28548" y="51411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Monitor and optimize delivery times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59008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6255901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6430208"/>
            <a:ext cx="4026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Payment &amp; Discount Impact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3790" y="69206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Assess payment methods and promo effectiveness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428548" y="59008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6255901"/>
            <a:ext cx="6408063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8" name="Text 26"/>
          <p:cNvSpPr/>
          <p:nvPr/>
        </p:nvSpPr>
        <p:spPr>
          <a:xfrm>
            <a:off x="7428548" y="6430208"/>
            <a:ext cx="3209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28548" y="69206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Support strategic planning with actionable insights</a:t>
            </a:r>
            <a:endParaRPr lang="en-US" sz="17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8F34FB-137C-CF1C-88BD-353AF04F23A3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5454" y="851773"/>
            <a:ext cx="937260" cy="274915"/>
          </a:xfrm>
          <a:prstGeom prst="roundRect">
            <a:avLst>
              <a:gd name="adj" fmla="val 7072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1822609" y="900351"/>
            <a:ext cx="742950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676" y="900351"/>
            <a:ext cx="1436370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25454" y="1172885"/>
            <a:ext cx="4701302" cy="506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Dataset &amp; ER Structure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725454" y="1982748"/>
            <a:ext cx="3655814" cy="960477"/>
          </a:xfrm>
          <a:prstGeom prst="roundRect">
            <a:avLst>
              <a:gd name="adj" fmla="val 1142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2594" y="1982748"/>
            <a:ext cx="91440" cy="960477"/>
          </a:xfrm>
          <a:prstGeom prst="roundRect">
            <a:avLst>
              <a:gd name="adj" fmla="val 26578"/>
            </a:avLst>
          </a:prstGeom>
          <a:solidFill>
            <a:srgbClr val="E2C2B3"/>
          </a:solidFill>
          <a:ln/>
        </p:spPr>
      </p:sp>
      <p:sp>
        <p:nvSpPr>
          <p:cNvPr id="8" name="Text 6"/>
          <p:cNvSpPr/>
          <p:nvPr/>
        </p:nvSpPr>
        <p:spPr>
          <a:xfrm>
            <a:off x="1978819" y="2167533"/>
            <a:ext cx="202513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978819" y="2536269"/>
            <a:ext cx="3217664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Demographics &amp; contact info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25454" y="3058835"/>
            <a:ext cx="3655814" cy="960477"/>
          </a:xfrm>
          <a:prstGeom prst="roundRect">
            <a:avLst>
              <a:gd name="adj" fmla="val 1142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2594" y="3058835"/>
            <a:ext cx="91440" cy="960477"/>
          </a:xfrm>
          <a:prstGeom prst="roundRect">
            <a:avLst>
              <a:gd name="adj" fmla="val 26578"/>
            </a:avLst>
          </a:prstGeom>
          <a:solidFill>
            <a:srgbClr val="E2C2B3"/>
          </a:solidFill>
          <a:ln/>
        </p:spPr>
      </p:sp>
      <p:sp>
        <p:nvSpPr>
          <p:cNvPr id="12" name="Text 10"/>
          <p:cNvSpPr/>
          <p:nvPr/>
        </p:nvSpPr>
        <p:spPr>
          <a:xfrm>
            <a:off x="1978819" y="3243620"/>
            <a:ext cx="202513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978819" y="3612356"/>
            <a:ext cx="3217664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Cuisine, ratings &amp; location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25454" y="4134922"/>
            <a:ext cx="3655814" cy="960477"/>
          </a:xfrm>
          <a:prstGeom prst="roundRect">
            <a:avLst>
              <a:gd name="adj" fmla="val 1142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2594" y="4134922"/>
            <a:ext cx="91440" cy="960477"/>
          </a:xfrm>
          <a:prstGeom prst="roundRect">
            <a:avLst>
              <a:gd name="adj" fmla="val 26578"/>
            </a:avLst>
          </a:prstGeom>
          <a:solidFill>
            <a:srgbClr val="E2C2B3"/>
          </a:solidFill>
          <a:ln/>
        </p:spPr>
      </p:sp>
      <p:sp>
        <p:nvSpPr>
          <p:cNvPr id="16" name="Text 14"/>
          <p:cNvSpPr/>
          <p:nvPr/>
        </p:nvSpPr>
        <p:spPr>
          <a:xfrm>
            <a:off x="1978819" y="4319707"/>
            <a:ext cx="202513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Orders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978819" y="4688443"/>
            <a:ext cx="3217664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Transactions &amp; timestamps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25454" y="5211008"/>
            <a:ext cx="3655814" cy="960477"/>
          </a:xfrm>
          <a:prstGeom prst="roundRect">
            <a:avLst>
              <a:gd name="adj" fmla="val 1142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02594" y="5211008"/>
            <a:ext cx="91440" cy="960477"/>
          </a:xfrm>
          <a:prstGeom prst="roundRect">
            <a:avLst>
              <a:gd name="adj" fmla="val 26578"/>
            </a:avLst>
          </a:prstGeom>
          <a:solidFill>
            <a:srgbClr val="E2C2B3"/>
          </a:solidFill>
          <a:ln/>
        </p:spPr>
      </p:sp>
      <p:sp>
        <p:nvSpPr>
          <p:cNvPr id="20" name="Text 18"/>
          <p:cNvSpPr/>
          <p:nvPr/>
        </p:nvSpPr>
        <p:spPr>
          <a:xfrm>
            <a:off x="1978819" y="5395793"/>
            <a:ext cx="202513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Order Items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978819" y="5764530"/>
            <a:ext cx="3217664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Line-level product details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725454" y="6287095"/>
            <a:ext cx="3655814" cy="960477"/>
          </a:xfrm>
          <a:prstGeom prst="roundRect">
            <a:avLst>
              <a:gd name="adj" fmla="val 1142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2594" y="6287095"/>
            <a:ext cx="91440" cy="960477"/>
          </a:xfrm>
          <a:prstGeom prst="roundRect">
            <a:avLst>
              <a:gd name="adj" fmla="val 26578"/>
            </a:avLst>
          </a:prstGeom>
          <a:solidFill>
            <a:srgbClr val="E2C2B3"/>
          </a:solidFill>
          <a:ln/>
        </p:spPr>
      </p:sp>
      <p:sp>
        <p:nvSpPr>
          <p:cNvPr id="24" name="Text 22"/>
          <p:cNvSpPr/>
          <p:nvPr/>
        </p:nvSpPr>
        <p:spPr>
          <a:xfrm>
            <a:off x="1978819" y="6471880"/>
            <a:ext cx="202513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Delivery Agents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978819" y="6840617"/>
            <a:ext cx="3217664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Agent performance &amp; routes</a:t>
            </a:r>
            <a:endParaRPr lang="en-US" sz="12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175" y="2872621"/>
            <a:ext cx="7128153" cy="3485078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1183" y="4727586"/>
            <a:ext cx="222546" cy="22254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952948" y="3147980"/>
            <a:ext cx="1538133" cy="19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952948" y="3402319"/>
            <a:ext cx="1538133" cy="2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PK: customer_id — demographics &amp; contact</a:t>
            </a:r>
            <a:endParaRPr lang="en-US" sz="9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1154" y="4727586"/>
            <a:ext cx="222546" cy="22254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199453" y="3147980"/>
            <a:ext cx="1538132" cy="19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Orders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199453" y="3402319"/>
            <a:ext cx="1538132" cy="40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PK: order_id — transactions &amp; timestamps</a:t>
            </a:r>
            <a:endParaRPr lang="en-US" sz="9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1124" y="4727586"/>
            <a:ext cx="222546" cy="22254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952948" y="4981375"/>
            <a:ext cx="1538133" cy="19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Order Items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952948" y="5235713"/>
            <a:ext cx="1538133" cy="2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PK: order_item_id — line-level details</a:t>
            </a:r>
            <a:endParaRPr lang="en-US" sz="9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78135" y="4727586"/>
            <a:ext cx="222546" cy="22254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192303" y="4981375"/>
            <a:ext cx="1538132" cy="19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Delivery Agents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1192303" y="5235713"/>
            <a:ext cx="1538132" cy="2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PK: agent_id — performance &amp; routes</a:t>
            </a:r>
            <a:endParaRPr lang="en-US" sz="9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8A5948-9E6F-C816-6366-2D1A10BFAAB8}"/>
              </a:ext>
            </a:extLst>
          </p:cNvPr>
          <p:cNvSpPr txBox="1"/>
          <p:nvPr/>
        </p:nvSpPr>
        <p:spPr>
          <a:xfrm>
            <a:off x="6426756" y="6486945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3C9C5"/>
                </a:solidFill>
              </a:rPr>
              <a:t>The Orders table acts as the central entity connecting customers, restaurants, order items, and delivery agents.</a:t>
            </a:r>
            <a:endParaRPr lang="en-IN" dirty="0">
              <a:solidFill>
                <a:srgbClr val="D3C9C5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B2C6C6-8EF5-6465-B860-96D96F787A8F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25540" y="830818"/>
            <a:ext cx="1221700" cy="387668"/>
          </a:xfrm>
          <a:prstGeom prst="roundRect">
            <a:avLst>
              <a:gd name="adj" fmla="val 6537"/>
            </a:avLst>
          </a:prstGeom>
          <a:solidFill>
            <a:srgbClr val="372015"/>
          </a:solidFill>
          <a:ln/>
        </p:spPr>
      </p:sp>
      <p:sp>
        <p:nvSpPr>
          <p:cNvPr id="6" name="Text 2"/>
          <p:cNvSpPr/>
          <p:nvPr/>
        </p:nvSpPr>
        <p:spPr>
          <a:xfrm>
            <a:off x="6352223" y="894159"/>
            <a:ext cx="968335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552730" y="894159"/>
            <a:ext cx="2306479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225540" y="1297067"/>
            <a:ext cx="7665720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Exploratory Analysis &amp; Customer Segmentation</a:t>
            </a:r>
            <a:endParaRPr lang="en-US" sz="4150" dirty="0"/>
          </a:p>
        </p:txBody>
      </p:sp>
      <p:sp>
        <p:nvSpPr>
          <p:cNvPr id="9" name="Shape 5"/>
          <p:cNvSpPr/>
          <p:nvPr/>
        </p:nvSpPr>
        <p:spPr>
          <a:xfrm>
            <a:off x="6225540" y="2911673"/>
            <a:ext cx="3734514" cy="1545312"/>
          </a:xfrm>
          <a:prstGeom prst="roundRect">
            <a:avLst>
              <a:gd name="adj" fmla="val 32799"/>
            </a:avLst>
          </a:prstGeom>
          <a:solidFill>
            <a:srgbClr val="5F5153"/>
          </a:solidFill>
          <a:ln/>
        </p:spPr>
      </p:sp>
      <p:sp>
        <p:nvSpPr>
          <p:cNvPr id="10" name="Text 6"/>
          <p:cNvSpPr/>
          <p:nvPr/>
        </p:nvSpPr>
        <p:spPr>
          <a:xfrm>
            <a:off x="6436638" y="3122771"/>
            <a:ext cx="2639735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🥇</a:t>
            </a: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Gold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6436638" y="3593425"/>
            <a:ext cx="3312319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Top spenders driving the highest lifetime value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0156627" y="2911673"/>
            <a:ext cx="3734633" cy="1545312"/>
          </a:xfrm>
          <a:prstGeom prst="roundRect">
            <a:avLst>
              <a:gd name="adj" fmla="val 32799"/>
            </a:avLst>
          </a:prstGeom>
          <a:solidFill>
            <a:srgbClr val="5F5153"/>
          </a:solidFill>
          <a:ln/>
        </p:spPr>
      </p:sp>
      <p:sp>
        <p:nvSpPr>
          <p:cNvPr id="13" name="Text 9"/>
          <p:cNvSpPr/>
          <p:nvPr/>
        </p:nvSpPr>
        <p:spPr>
          <a:xfrm>
            <a:off x="10367724" y="3122771"/>
            <a:ext cx="2639735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🥈</a:t>
            </a: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Silver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10367724" y="3593425"/>
            <a:ext cx="3312438" cy="6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Consistent mid-tier customers with growth potential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225540" y="4653558"/>
            <a:ext cx="7665720" cy="1219081"/>
          </a:xfrm>
          <a:prstGeom prst="roundRect">
            <a:avLst>
              <a:gd name="adj" fmla="val 41576"/>
            </a:avLst>
          </a:prstGeom>
          <a:solidFill>
            <a:srgbClr val="5F5153"/>
          </a:solidFill>
          <a:ln/>
        </p:spPr>
      </p:sp>
      <p:sp>
        <p:nvSpPr>
          <p:cNvPr id="16" name="Text 12"/>
          <p:cNvSpPr/>
          <p:nvPr/>
        </p:nvSpPr>
        <p:spPr>
          <a:xfrm>
            <a:off x="6436638" y="4864656"/>
            <a:ext cx="2639735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🥉</a:t>
            </a: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Bronze</a:t>
            </a:r>
            <a:endParaRPr lang="en-US" sz="2050" dirty="0"/>
          </a:p>
        </p:txBody>
      </p:sp>
      <p:sp>
        <p:nvSpPr>
          <p:cNvPr id="17" name="Text 13"/>
          <p:cNvSpPr/>
          <p:nvPr/>
        </p:nvSpPr>
        <p:spPr>
          <a:xfrm>
            <a:off x="6436638" y="5335310"/>
            <a:ext cx="724352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Occasional buyers needing engagement strategies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225540" y="6093738"/>
            <a:ext cx="7665720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Revenue and order volume were analyzed per city to identify geographic hotspots. Top customers were ranked by total spending, then segmented into tiers. </a:t>
            </a:r>
            <a:r>
              <a:rPr lang="en-US" sz="16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Segmentation enables targeted marketing, personalized offers, and efficient resource allocation.</a:t>
            </a:r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D3C9C5"/>
                </a:solidFill>
              </a:rPr>
              <a:t>Gold customers contribute the majority of revenue, highlighting the importance of loyalty programs.</a:t>
            </a:r>
            <a:endParaRPr lang="en-US" sz="1650" dirty="0">
              <a:solidFill>
                <a:srgbClr val="D3C9C5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3FC185-1312-D7C8-3A2A-A45E74D1E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526" y="0"/>
            <a:ext cx="6129575" cy="822959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BD1C409-5F37-C109-AA0F-FFD3424D6461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21" y="705803"/>
            <a:ext cx="1217295" cy="385763"/>
          </a:xfrm>
          <a:prstGeom prst="roundRect">
            <a:avLst>
              <a:gd name="adj" fmla="val 6547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862727" y="768906"/>
            <a:ext cx="96488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58948" y="768906"/>
            <a:ext cx="132933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6521" y="1169670"/>
            <a:ext cx="9493091" cy="65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 &amp; Delivery Performance</a:t>
            </a:r>
            <a:endParaRPr lang="en-US" sz="4100" dirty="0"/>
          </a:p>
        </p:txBody>
      </p:sp>
      <p:sp>
        <p:nvSpPr>
          <p:cNvPr id="6" name="Shape 4"/>
          <p:cNvSpPr/>
          <p:nvPr/>
        </p:nvSpPr>
        <p:spPr>
          <a:xfrm>
            <a:off x="1953816" y="2448579"/>
            <a:ext cx="5361384" cy="2647058"/>
          </a:xfrm>
          <a:prstGeom prst="roundRect">
            <a:avLst>
              <a:gd name="adj" fmla="val 1500"/>
            </a:avLst>
          </a:prstGeom>
          <a:solidFill>
            <a:srgbClr val="4D4D51"/>
          </a:solidFill>
          <a:ln/>
        </p:spPr>
      </p:sp>
      <p:sp>
        <p:nvSpPr>
          <p:cNvPr id="8" name="Text 5"/>
          <p:cNvSpPr/>
          <p:nvPr/>
        </p:nvSpPr>
        <p:spPr>
          <a:xfrm>
            <a:off x="3855006" y="4931212"/>
            <a:ext cx="2135624" cy="164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30132" y="2315408"/>
            <a:ext cx="3156823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Restaurant Insights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9630132" y="2905125"/>
            <a:ext cx="4271367" cy="169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Top restaurants ranked by total revenue contribution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Higher ratings correlate with higher revenue</a:t>
            </a: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— quality drives repeat orders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630132" y="4921081"/>
            <a:ext cx="4271367" cy="33814"/>
          </a:xfrm>
          <a:prstGeom prst="rect">
            <a:avLst/>
          </a:prstGeom>
          <a:solidFill>
            <a:srgbClr val="D3C9C5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630132" y="5174456"/>
            <a:ext cx="3156823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Delivery Metrics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9630132" y="5764173"/>
            <a:ext cx="4271367" cy="169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Average delivery time benchmarked across cities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Late deliveries directly reduce customer satisfaction</a:t>
            </a: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and increase churn risk</a:t>
            </a:r>
            <a:endParaRPr lang="en-US" sz="1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BFA533-3B20-DCCD-DDEA-092AC31E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991" y="2094214"/>
            <a:ext cx="7179033" cy="572136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6370F5A-CB25-A29C-FA4F-DD320EF7473C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2637" y="1070253"/>
            <a:ext cx="747270" cy="190262"/>
          </a:xfrm>
          <a:prstGeom prst="roundRect">
            <a:avLst>
              <a:gd name="adj" fmla="val 7600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3210121" y="1106329"/>
            <a:ext cx="592302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74415" y="1106329"/>
            <a:ext cx="1206813" cy="11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FINANCIAL ANALYTICS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907431" y="1286113"/>
            <a:ext cx="7441677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Payment, Discounts &amp; Advanced SQL Insights</a:t>
            </a:r>
            <a:endParaRPr lang="en-US" sz="2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30" y="1703814"/>
            <a:ext cx="8913112" cy="48787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23539" y="3331677"/>
            <a:ext cx="1523879" cy="236208"/>
          </a:xfrm>
          <a:prstGeom prst="roundRect">
            <a:avLst>
              <a:gd name="adj" fmla="val 541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639" y="3379413"/>
            <a:ext cx="140734" cy="1407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08843" y="3364493"/>
            <a:ext cx="1172045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Credit Card·35%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9727619" y="3364493"/>
            <a:ext cx="428247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·35%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9793226" y="3364493"/>
            <a:ext cx="37749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8724939" y="3655394"/>
            <a:ext cx="1482281" cy="236208"/>
          </a:xfrm>
          <a:prstGeom prst="roundRect">
            <a:avLst>
              <a:gd name="adj" fmla="val 541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6639" y="3703132"/>
            <a:ext cx="140734" cy="1407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10242" y="3688210"/>
            <a:ext cx="1130448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Debit Card·25%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9688820" y="3688210"/>
            <a:ext cx="428246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·25%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9754428" y="3688210"/>
            <a:ext cx="37749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8740627" y="3979112"/>
            <a:ext cx="1015918" cy="236208"/>
          </a:xfrm>
          <a:prstGeom prst="roundRect">
            <a:avLst>
              <a:gd name="adj" fmla="val 541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639" y="4026848"/>
            <a:ext cx="140734" cy="1407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25931" y="4011928"/>
            <a:ext cx="664086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UPI·22%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9253836" y="4011928"/>
            <a:ext cx="428247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·22%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9319444" y="4011928"/>
            <a:ext cx="37749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8711451" y="4302829"/>
            <a:ext cx="1883224" cy="236207"/>
          </a:xfrm>
          <a:prstGeom prst="roundRect">
            <a:avLst>
              <a:gd name="adj" fmla="val 5419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6639" y="4350566"/>
            <a:ext cx="140734" cy="1407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96755" y="4335645"/>
            <a:ext cx="1531391" cy="17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Cash on Delivery·12%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10062787" y="4335645"/>
            <a:ext cx="428247" cy="17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·12%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10128395" y="4335645"/>
            <a:ext cx="37749" cy="17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7" name="Shape 20"/>
          <p:cNvSpPr/>
          <p:nvPr/>
        </p:nvSpPr>
        <p:spPr>
          <a:xfrm>
            <a:off x="8737477" y="4626546"/>
            <a:ext cx="1109558" cy="236208"/>
          </a:xfrm>
          <a:prstGeom prst="roundRect">
            <a:avLst>
              <a:gd name="adj" fmla="val 541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6639" y="4674283"/>
            <a:ext cx="140734" cy="1407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22782" y="4659363"/>
            <a:ext cx="757723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Wallet·6%</a:t>
            </a:r>
            <a:endParaRPr lang="en-US" sz="700" dirty="0"/>
          </a:p>
        </p:txBody>
      </p:sp>
      <p:sp>
        <p:nvSpPr>
          <p:cNvPr id="30" name="Text 22"/>
          <p:cNvSpPr/>
          <p:nvPr/>
        </p:nvSpPr>
        <p:spPr>
          <a:xfrm>
            <a:off x="9418913" y="4659363"/>
            <a:ext cx="347802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·6%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9481815" y="4659363"/>
            <a:ext cx="37749" cy="17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2" name="Shape 24"/>
          <p:cNvSpPr/>
          <p:nvPr/>
        </p:nvSpPr>
        <p:spPr>
          <a:xfrm>
            <a:off x="3043397" y="6486644"/>
            <a:ext cx="2946955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3" name="Text 25"/>
          <p:cNvSpPr/>
          <p:nvPr/>
        </p:nvSpPr>
        <p:spPr>
          <a:xfrm>
            <a:off x="3103449" y="6637615"/>
            <a:ext cx="1614914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Discount Impact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059736" y="6864191"/>
            <a:ext cx="2914276" cy="29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Discounts boost order volume but must be optimized to protect margins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841604" y="6486644"/>
            <a:ext cx="2946955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6" name="Text 28"/>
          <p:cNvSpPr/>
          <p:nvPr/>
        </p:nvSpPr>
        <p:spPr>
          <a:xfrm>
            <a:off x="5901655" y="6637615"/>
            <a:ext cx="1614914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Monthly Trends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5857942" y="6864191"/>
            <a:ext cx="2914276" cy="29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Revenue tracked monthly to identify seasonal patterns and growth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639807" y="6486644"/>
            <a:ext cx="2947081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9" name="Text 31"/>
          <p:cNvSpPr/>
          <p:nvPr/>
        </p:nvSpPr>
        <p:spPr>
          <a:xfrm>
            <a:off x="8699862" y="6637615"/>
            <a:ext cx="1614914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Window Functions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656146" y="6864191"/>
            <a:ext cx="2914403" cy="29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Restaurants ranked using SQL window functions for comparative analysis</a:t>
            </a:r>
            <a:endParaRPr lang="en-US" sz="9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5D291D-5C63-201B-0C0B-C610906D8ABC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73091" y="1253133"/>
            <a:ext cx="912257" cy="265628"/>
          </a:xfrm>
          <a:prstGeom prst="roundRect">
            <a:avLst>
              <a:gd name="adj" fmla="val 7126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1967627" y="1300401"/>
            <a:ext cx="723186" cy="17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864168" y="1300401"/>
            <a:ext cx="1999536" cy="17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TECHNICAL IMPLEMENTATION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73091" y="1562576"/>
            <a:ext cx="7960876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Automation, Optimization &amp; Dashboard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873091" y="2329696"/>
            <a:ext cx="2366129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SQL Backend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873091" y="2748677"/>
            <a:ext cx="3559254" cy="931069"/>
          </a:xfrm>
          <a:prstGeom prst="roundRect">
            <a:avLst>
              <a:gd name="adj" fmla="val 2541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3590" y="2929176"/>
            <a:ext cx="268664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Views &amp; Stored Procedures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053590" y="3285292"/>
            <a:ext cx="319825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Reusable queries for consistent reporting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3091" y="3789402"/>
            <a:ext cx="3559254" cy="1145024"/>
          </a:xfrm>
          <a:prstGeom prst="roundRect">
            <a:avLst>
              <a:gd name="adj" fmla="val 2066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3590" y="3969901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Triggers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053590" y="4326017"/>
            <a:ext cx="3198257" cy="42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Automated data integrity and event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3091" y="5044083"/>
            <a:ext cx="3559254" cy="931069"/>
          </a:xfrm>
          <a:prstGeom prst="roundRect">
            <a:avLst>
              <a:gd name="adj" fmla="val 2541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3590" y="5224582"/>
            <a:ext cx="197167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Indexing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053590" y="5580698"/>
            <a:ext cx="3198257" cy="2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Optimized query performance at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34976" y="2204561"/>
            <a:ext cx="6579219" cy="3590091"/>
          </a:xfrm>
          <a:prstGeom prst="roundRect">
            <a:avLst>
              <a:gd name="adj" fmla="val 1500"/>
            </a:avLst>
          </a:prstGeom>
          <a:solidFill>
            <a:srgbClr val="4D4D51"/>
          </a:solidFill>
          <a:ln/>
        </p:spPr>
      </p:sp>
      <p:sp>
        <p:nvSpPr>
          <p:cNvPr id="18" name="Text 15"/>
          <p:cNvSpPr/>
          <p:nvPr/>
        </p:nvSpPr>
        <p:spPr>
          <a:xfrm>
            <a:off x="8226981" y="4257080"/>
            <a:ext cx="213562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873091" y="6221849"/>
            <a:ext cx="10884218" cy="754499"/>
          </a:xfrm>
          <a:prstGeom prst="roundRect">
            <a:avLst>
              <a:gd name="adj" fmla="val 3136"/>
            </a:avLst>
          </a:prstGeom>
          <a:solidFill>
            <a:srgbClr val="372015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730" y="6456164"/>
            <a:ext cx="197168" cy="15763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385536" y="6370915"/>
            <a:ext cx="10214134" cy="42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Power BI Dashboard</a:t>
            </a:r>
            <a:r>
              <a:rPr lang="en-US" sz="1200" dirty="0">
                <a:solidFill>
                  <a:srgbClr val="FFFFF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— Integrates KPIs, revenue trends, city performance maps, and payment distribution into a single interactive view.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919D7D-647B-73D9-62BA-DD6A4B452D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839"/>
          <a:stretch>
            <a:fillRect/>
          </a:stretch>
        </p:blipFill>
        <p:spPr>
          <a:xfrm>
            <a:off x="6556917" y="2165152"/>
            <a:ext cx="6657278" cy="3810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C6B267A-875F-0D98-FB61-E96070EC19C0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9249" y="1169908"/>
            <a:ext cx="655677" cy="176689"/>
          </a:xfrm>
          <a:prstGeom prst="roundRect">
            <a:avLst>
              <a:gd name="adj" fmla="val 7703"/>
            </a:avLst>
          </a:prstGeom>
          <a:solidFill>
            <a:srgbClr val="372015"/>
          </a:solidFill>
          <a:ln/>
        </p:spPr>
      </p:sp>
      <p:sp>
        <p:nvSpPr>
          <p:cNvPr id="6" name="Text 2"/>
          <p:cNvSpPr/>
          <p:nvPr/>
        </p:nvSpPr>
        <p:spPr>
          <a:xfrm>
            <a:off x="727234" y="1203841"/>
            <a:ext cx="519708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CHAPTER 7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1371600" y="1203841"/>
            <a:ext cx="1539716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INSIGHTS &amp; RECOMMENDATIONS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59249" y="1369219"/>
            <a:ext cx="48504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Insights &amp; Recommendations</a:t>
            </a:r>
            <a:endParaRPr lang="en-US" sz="2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49" y="1808559"/>
            <a:ext cx="566976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2898" y="192190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282898" y="2133005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Revenue concentrated in major cities; high-value customers drive profits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49" y="2489002"/>
            <a:ext cx="566976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2898" y="26023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282898" y="2813447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Ratings influence restaurant success; delivery delays hurt experience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49" y="3169444"/>
            <a:ext cx="566976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2898" y="328279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Insight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1282898" y="3493889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Discounts increase order volume but need strategic optimization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249" y="3913584"/>
            <a:ext cx="283488" cy="2834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9249" y="42679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59249" y="447901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Reward premium customers to maximize retention</a:t>
            </a:r>
            <a:endParaRPr lang="en-US" sz="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249" y="4728448"/>
            <a:ext cx="283488" cy="28348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59249" y="50827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Improve Logistics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659249" y="5293876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Target delay-prone areas with better routing</a:t>
            </a:r>
            <a:endParaRPr lang="en-US" sz="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9249" y="5543312"/>
            <a:ext cx="283488" cy="28348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59249" y="5897642"/>
            <a:ext cx="182272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Promote Top Restaurants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659249" y="610874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Amplify visibility of high-performing partners</a:t>
            </a:r>
            <a:endParaRPr lang="en-US" sz="8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9249" y="6358176"/>
            <a:ext cx="283488" cy="28348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59249" y="67125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Optimize Discounts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659249" y="692360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Balance volume growth with margin protection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F90148F-8203-74D3-72A8-DC4A78FF61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1" y="769435"/>
            <a:ext cx="5486400" cy="6545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698302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Data-Driven Decisions Power the Future of Food Delivery</a:t>
            </a:r>
            <a:endParaRPr lang="en-US" sz="6150" dirty="0"/>
          </a:p>
        </p:txBody>
      </p:sp>
      <p:sp>
        <p:nvSpPr>
          <p:cNvPr id="6" name="Text 2"/>
          <p:cNvSpPr/>
          <p:nvPr/>
        </p:nvSpPr>
        <p:spPr>
          <a:xfrm>
            <a:off x="6620351" y="4793841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By transforming raw data into actionable intelligence, businesses can optimize every touchpoint — from customer acquisition to last-mile delivery — and build a sustainable competitive advantage.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6320901" y="4553161"/>
            <a:ext cx="30480" cy="1961912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8" name="Text 4"/>
          <p:cNvSpPr/>
          <p:nvPr/>
        </p:nvSpPr>
        <p:spPr>
          <a:xfrm>
            <a:off x="6280190" y="71683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Ananya Sindhe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EB9A81-9627-A034-4BDA-529B08B14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65130A-70BB-9803-F542-FAF58CDE1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9" y="3657601"/>
            <a:ext cx="2763142" cy="27766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0C367E-49E7-42DB-26A2-553F58E455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852" y="3657602"/>
            <a:ext cx="2683548" cy="2776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EA8E656-641A-6AFA-22CB-9EB32C122A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34255"/>
            <a:ext cx="5505450" cy="177304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AB5DE84-8802-B9DA-E6A6-85CD4010D8D2}"/>
              </a:ext>
            </a:extLst>
          </p:cNvPr>
          <p:cNvSpPr/>
          <p:nvPr/>
        </p:nvSpPr>
        <p:spPr>
          <a:xfrm>
            <a:off x="12712390" y="7672040"/>
            <a:ext cx="1918010" cy="535259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627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-apple-system, BlinkMacSystemFont, Segoe UI, Roboto, Helvetica Neue, Arial, sans-serif Medium</vt:lpstr>
      <vt:lpstr>Arial</vt:lpstr>
      <vt:lpstr>Noto Serif HK</vt:lpstr>
      <vt:lpstr>Noto Serif HK Bold</vt:lpstr>
      <vt:lpstr>Noto Serif HK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Amulya y Sindhe</cp:lastModifiedBy>
  <cp:revision>2</cp:revision>
  <dcterms:created xsi:type="dcterms:W3CDTF">2026-02-28T08:31:30Z</dcterms:created>
  <dcterms:modified xsi:type="dcterms:W3CDTF">2026-02-28T09:38:14Z</dcterms:modified>
</cp:coreProperties>
</file>